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a:t>
            </a:r>
          </a:p>
          <a:p>
            <a:pPr algn="ctr"/>
            <a:r>
              <a:rPr sz="4400">
                <a:solidFill>
                  <a:srgbClr val="FFFFFF"/>
                </a:solidFill>
                <a:latin typeface="Arial"/>
              </a:rPr>
              <a:t>Palavra do Senhor, feita a Sofonias, filho de Cushi, filho de Gedalia, filho de Amaria, filho de Hizekia, nos dias de Josia, filho de Amon, rei de Judah.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1:2</a:t>
            </a:r>
          </a:p>
          <a:p>
            <a:pPr algn="ctr"/>
            <a:r>
              <a:rPr sz="4400">
                <a:solidFill>
                  <a:srgbClr val="FFFFFF"/>
                </a:solidFill>
                <a:latin typeface="Arial"/>
              </a:rPr>
              <a:t>Eu indubitavelmente hei de arrebatar tudo de sobre a face da terra, diz o Senhor.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1:3</a:t>
            </a:r>
          </a:p>
          <a:p>
            <a:pPr algn="ctr"/>
            <a:r>
              <a:rPr sz="4400">
                <a:solidFill>
                  <a:srgbClr val="FFFFFF"/>
                </a:solidFill>
                <a:latin typeface="Arial"/>
              </a:rPr>
              <a:t>Arrebatarei os homens e os animaes, arrebatarei as aves do céu, e os peixes do mar, e os tropeços com os impios; e exterminarei os homens de cima da terra, disse o Senhor.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1:4</a:t>
            </a:r>
          </a:p>
          <a:p>
            <a:pPr algn="ctr"/>
            <a:r>
              <a:rPr sz="4400">
                <a:solidFill>
                  <a:srgbClr val="FFFFFF"/>
                </a:solidFill>
                <a:latin typeface="Arial"/>
              </a:rPr>
              <a:t>E estenderei a minha mão contra Judah, e contra todos os habitantes de Jerusalem, e exterminarei d'este logar o resto de Baal, e o nome dos chemarins com os sacerdotes;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1:5</a:t>
            </a:r>
          </a:p>
          <a:p>
            <a:pPr algn="ctr"/>
            <a:r>
              <a:rPr sz="4400">
                <a:solidFill>
                  <a:srgbClr val="FFFFFF"/>
                </a:solidFill>
                <a:latin typeface="Arial"/>
              </a:rPr>
              <a:t>E os que sobre os telhados se encurvam ao exercito do céu; e os que se inclinam jurando pelo Senhor, e juram por Malcam;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1:6</a:t>
            </a:r>
          </a:p>
          <a:p>
            <a:pPr algn="ctr"/>
            <a:r>
              <a:rPr sz="4400">
                <a:solidFill>
                  <a:srgbClr val="FFFFFF"/>
                </a:solidFill>
                <a:latin typeface="Arial"/>
              </a:rPr>
              <a:t>E os que se desviam de andar em seguimento do Senhor, e os que não buscam ao Senhor, nem perguntam por elle.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1:7</a:t>
            </a:r>
          </a:p>
          <a:p>
            <a:pPr algn="ctr"/>
            <a:r>
              <a:rPr sz="4400">
                <a:solidFill>
                  <a:srgbClr val="FFFFFF"/>
                </a:solidFill>
                <a:latin typeface="Arial"/>
              </a:rPr>
              <a:t>Cala-te diante do Senhor Jehovah, porque o dia do Senhor está perto, porque o Senhor apparelhou o sacrificio, e sanctificou os seus convidados.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1:8</a:t>
            </a:r>
          </a:p>
          <a:p>
            <a:pPr algn="ctr"/>
            <a:r>
              <a:rPr sz="4400">
                <a:solidFill>
                  <a:srgbClr val="FFFFFF"/>
                </a:solidFill>
                <a:latin typeface="Arial"/>
              </a:rPr>
              <a:t>E ha de ser que, no dia do sacrificio do Senhor, hei de fazer visitação sobre os principes, e sobre os filhos do rei, e sobre todos os que se vestem de vestidura estranha.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1:9</a:t>
            </a:r>
          </a:p>
          <a:p>
            <a:pPr algn="ctr"/>
            <a:r>
              <a:rPr sz="4400">
                <a:solidFill>
                  <a:srgbClr val="FFFFFF"/>
                </a:solidFill>
                <a:latin typeface="Arial"/>
              </a:rPr>
              <a:t>Farei tambem visitação n'aquelle dia sobre todo aquelle que salta sobre o umbral, que enche de violencia e engano a casa dos senhores d'elles.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1:10</a:t>
            </a:r>
          </a:p>
          <a:p>
            <a:pPr algn="ctr"/>
            <a:r>
              <a:rPr sz="4400">
                <a:solidFill>
                  <a:srgbClr val="FFFFFF"/>
                </a:solidFill>
                <a:latin typeface="Arial"/>
              </a:rPr>
              <a:t>E n'aquelle dia, diz o Senhor, haverá uma voz de clamor desde a porta do pescado, e um uivo desde a segunda parte, e grande quebranto desde os outeiros.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1:11</a:t>
            </a:r>
          </a:p>
          <a:p>
            <a:pPr algn="ctr"/>
            <a:r>
              <a:rPr sz="4400">
                <a:solidFill>
                  <a:srgbClr val="FFFFFF"/>
                </a:solidFill>
                <a:latin typeface="Arial"/>
              </a:rPr>
              <a:t>Uivae vós, moradores do valle, porque todo o povo que mercava está arruinado, todos os carregados de dinheiro são destruidos.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1:12</a:t>
            </a:r>
          </a:p>
          <a:p>
            <a:pPr algn="ctr"/>
            <a:r>
              <a:rPr sz="4400">
                <a:solidFill>
                  <a:srgbClr val="FFFFFF"/>
                </a:solidFill>
                <a:latin typeface="Arial"/>
              </a:rPr>
              <a:t>E ha de ser que, n'aquelle tempo, esquadrinharei a Jerusalem com lanternas, e farei visitação sobre os homens que estão assentados sobre as suas fezes, que dizem no seu coração: O Senhor não faz bem nem faz mal.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1:13</a:t>
            </a:r>
          </a:p>
          <a:p>
            <a:pPr algn="ctr"/>
            <a:r>
              <a:rPr sz="4400">
                <a:solidFill>
                  <a:srgbClr val="FFFFFF"/>
                </a:solidFill>
                <a:latin typeface="Arial"/>
              </a:rPr>
              <a:t>Por isso será saqueada a sua fazenda, e assoladas as suas casas: e edificarão casas, mas não habitarão n'ellas, e plantarão vinhas, mas não lhes beberão o seu vinho.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1:14</a:t>
            </a:r>
          </a:p>
          <a:p>
            <a:pPr algn="ctr"/>
            <a:r>
              <a:rPr sz="4400">
                <a:solidFill>
                  <a:srgbClr val="FFFFFF"/>
                </a:solidFill>
                <a:latin typeface="Arial"/>
              </a:rPr>
              <a:t>O grande dia do Senhor está perto, perto está, e se apressa muito, a voz do dia do Senhor: amargosamente clamará ali o valente.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1:15</a:t>
            </a:r>
          </a:p>
          <a:p>
            <a:pPr algn="ctr"/>
            <a:r>
              <a:rPr sz="4400">
                <a:solidFill>
                  <a:srgbClr val="FFFFFF"/>
                </a:solidFill>
                <a:latin typeface="Arial"/>
              </a:rPr>
              <a:t>Aquelle dia será um dia de indignação, dia de angustia e de ancia, dia de alvoroço e de assolação, dia de trevas e de escuridão, dia de nuvens e de densas trevas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1:16</a:t>
            </a:r>
          </a:p>
          <a:p>
            <a:pPr algn="ctr"/>
            <a:r>
              <a:rPr sz="4400">
                <a:solidFill>
                  <a:srgbClr val="FFFFFF"/>
                </a:solidFill>
                <a:latin typeface="Arial"/>
              </a:rPr>
              <a:t>Dia de buzina e de alarido contra as cidades fortes e contra as torres altas.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1:17</a:t>
            </a:r>
          </a:p>
          <a:p>
            <a:pPr algn="ctr"/>
            <a:r>
              <a:rPr sz="4400">
                <a:solidFill>
                  <a:srgbClr val="FFFFFF"/>
                </a:solidFill>
                <a:latin typeface="Arial"/>
              </a:rPr>
              <a:t>E angustiarei os homens, que andarão como cegos, porque peccaram contra o Senhor; e o seu sangue se derramará como pó, e a sua carne será como esterco.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Sofonias 1:18</a:t>
            </a:r>
          </a:p>
          <a:p>
            <a:pPr algn="ctr"/>
            <a:r>
              <a:rPr sz="4400">
                <a:solidFill>
                  <a:srgbClr val="FFFFFF"/>
                </a:solidFill>
                <a:latin typeface="Arial"/>
              </a:rPr>
              <a:t>Nem a sua prata nem o seu oiro os poderá livrar no dia do furor do Senhor, mas pelo fogo do seu zelo toda esta terra será consumida, porque certamente fará de todos os moradores d'esta terra uma destruição total e apressada.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